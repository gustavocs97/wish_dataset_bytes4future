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Produtos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China (CN)</c:v>
                  </c:pt>
                  <c:pt idx="1">
                    <c:v>EUA (US)</c:v>
                  </c:pt>
                  <c:pt idx="2">
                    <c:v>Venezuela</c:v>
                  </c:pt>
                  <c:pt idx="3">
                    <c:v>Singapura</c:v>
                  </c:pt>
                  <c:pt idx="4">
                    <c:v>Áustria</c:v>
                  </c:pt>
                  <c:pt idx="5">
                    <c:v>R. Unido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1516</c:v>
                </c:pt>
                <c:pt idx="1">
                  <c:v>31</c:v>
                </c:pt>
                <c:pt idx="2">
                  <c:v>5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A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900" b="0" i="0" u="none" strike="noStrike">
                <a:solidFill>
                  <a:srgbClr val="94A3B8"/>
                </a:solidFill>
                <a:latin typeface="Arial"/>
              </a:rPr>
              <a:t>Distribuição de Preços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Produtos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0–5€</c:v>
                  </c:pt>
                  <c:pt idx="1">
                    <c:v>5–10€</c:v>
                  </c:pt>
                  <c:pt idx="2">
                    <c:v>10–15€</c:v>
                  </c:pt>
                  <c:pt idx="3">
                    <c:v>15–20€</c:v>
                  </c:pt>
                  <c:pt idx="4">
                    <c:v>20–50€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323</c:v>
                </c:pt>
                <c:pt idx="1">
                  <c:v>762</c:v>
                </c:pt>
                <c:pt idx="2">
                  <c:v>416</c:v>
                </c:pt>
                <c:pt idx="3">
                  <c:v>63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A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900" b="0" i="0" u="none" strike="noStrike">
                <a:solidFill>
                  <a:srgbClr val="94A3B8"/>
                </a:solidFill>
                <a:latin typeface="Arial"/>
              </a:rPr>
              <a:t>Vendas médias por faixa de rating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Vendas médias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2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&lt; 3.5 ★</c:v>
                  </c:pt>
                  <c:pt idx="1">
                    <c:v>3.5–4 ★</c:v>
                  </c:pt>
                  <c:pt idx="2">
                    <c:v>4–4.5 ★</c:v>
                  </c:pt>
                  <c:pt idx="3">
                    <c:v>4.5–5 ★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2195</c:v>
                </c:pt>
                <c:pt idx="1">
                  <c:v>5563</c:v>
                </c:pt>
                <c:pt idx="2">
                  <c:v>5220</c:v>
                </c:pt>
                <c:pt idx="3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A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2286000" cy="19431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1645920" cy="1645920"/>
          </a:xfrm>
          <a:prstGeom prst="ellipse">
            <a:avLst/>
          </a:prstGeom>
          <a:solidFill>
            <a:srgbClr val="028090">
              <a:alpha val="12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</a:rPr>
              <a:t>PROJETO FINAL — DATA ANALYST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Fast Fashion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0C040"/>
                </a:solidFill>
              </a:rPr>
              <a:t>&amp; Pegada Ambiental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80467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Análise das vendas de roupa de verão na plataforma Wish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durante a pandemia — Agosto 2020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Fonte: Sales of Summer Clothes in E-commerce Wish  |  Kaggle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31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1. Objetivo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673352" y="39319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73352" y="3931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2. Investigação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889504" y="39319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3931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3. Variáveis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05656" y="39319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05656" y="3931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4. Validação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321808" y="39319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3931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5. Análise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537960" y="39319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931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6. Resultados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754112" y="39319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54112" y="3931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7. Apresentação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ETAPA 1 — OBJETIVO DE NEGÓCIO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Que problema queremos analisar?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Identificar padrões de consumo na Wish com impacto ambiental negativo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51760" cy="2651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Origem Concentrada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96,4% dos produtos fabricados na China e enviados individualmente para toda a Europa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51760" cy="2651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41732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🗑️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Qualidade &amp; Descarte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743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Preço médio de 8,33€ incentiva consumo descartável — compra, usa, deita fora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651760" cy="2651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41732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📢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722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Impulso Artificial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743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681 produtos usam ad boost e 473 têm urgency banners para pressionar compras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Questão central: Que características dos produtos — preço, origem, qualidade e estratégias de venda — contribuem para impacto ambiental negativo?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1.Objetivo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7335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7335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2.Investigação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889504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3.Variáveis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105656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05656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4.Validação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321808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5.Análise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53796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6.Resultados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75411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5411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7.Apresentação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ETAPA 2 — QUESTÃO DE INVESTIGAÇÃO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Qual o objetivo? Quem beneficia?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solidFill>
            <a:srgbClr val="1B2A3B"/>
          </a:solidFill>
          <a:ln w="1905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25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Qual a relação entre as características dos produtos vendidos na Wish em agosto 2020 e o seu potencial impacto ambiental — ao nível do transporte, da qualidade e do comportamento de compra?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651760" cy="2240280"/>
          </a:xfrm>
          <a:prstGeom prst="rect">
            <a:avLst/>
          </a:prstGeom>
          <a:solidFill>
            <a:srgbClr val="1B2A3B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👥  Quem é o cliente?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88336"/>
            <a:ext cx="237744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61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Wish Platform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ONGs Ambientais (WWF, Greenpeace)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547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Reguladores europeus (DGCCRF)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9410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Investigadores académicos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2286000"/>
            <a:ext cx="2651760" cy="2240280"/>
          </a:xfrm>
          <a:prstGeom prst="rect">
            <a:avLst/>
          </a:prstGeom>
          <a:solidFill>
            <a:srgbClr val="1B2A3B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💡  Que valor retira?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2688336"/>
            <a:ext cx="237744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761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Evidência para regulação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3154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Argumentos para campanhas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3547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Base para políticas de plataforma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39410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Dados reais de 2020 (pandemia)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2286000"/>
            <a:ext cx="2651760" cy="2240280"/>
          </a:xfrm>
          <a:prstGeom prst="rect">
            <a:avLst/>
          </a:prstGeom>
          <a:solidFill>
            <a:srgbClr val="1B2A3B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🔬  Sub-questões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2688336"/>
            <a:ext cx="237744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761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Onde se origina o produto?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72200" y="3154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Preço baixo = qualidade baixa?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3547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Boost/banner aumentam vendas?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39410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›  Badges locais são reais?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1.Objetivo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67335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7335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2.Investigação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889504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9504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3.Variáveis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05656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05656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4.Validação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321808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5.Análise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53796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6.Resultados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75411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5411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7.Apresentação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ETAPA 3 — VARIÁVEIS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Colunas selecionadas por tema ambiental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Existentes no dataset + calculadas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51760" cy="1417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26517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🚚 Frete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origin_country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20756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shipping_is_express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232257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countries_shipped_to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5694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shipping_option_price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2651760" cy="1417320"/>
          </a:xfrm>
          <a:prstGeom prst="rect">
            <a:avLst/>
          </a:prstGeom>
          <a:solidFill>
            <a:srgbClr val="1B2A3B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417320"/>
            <a:ext cx="2651760" cy="36576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🗑️ Qualidade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18288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10128" y="20756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retail_price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10128" y="232257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25694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rating_one_count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10128" y="28163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units_sold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35040" y="1417320"/>
            <a:ext cx="2651760" cy="1417320"/>
          </a:xfrm>
          <a:prstGeom prst="rect">
            <a:avLst/>
          </a:prstGeom>
          <a:solidFill>
            <a:srgbClr val="1B2A3B"/>
          </a:solidFill>
          <a:ln w="127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417320"/>
            <a:ext cx="2651760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📦 Estoque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44768" y="18288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inventory_total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44768" y="20756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product_variation_inventory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44768" y="232257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units_sold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971800"/>
            <a:ext cx="2651760" cy="1417320"/>
          </a:xfrm>
          <a:prstGeom prst="rect">
            <a:avLst/>
          </a:prstGeom>
          <a:solidFill>
            <a:srgbClr val="1B2A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971800"/>
            <a:ext cx="265176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🛒 Impulso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" y="33832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has_urgency_banner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36301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urgency_text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38770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uses_ad_boosts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0" y="2971800"/>
            <a:ext cx="2651760" cy="1417320"/>
          </a:xfrm>
          <a:prstGeom prst="rect">
            <a:avLst/>
          </a:prstGeom>
          <a:solidFill>
            <a:srgbClr val="1B2A3B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2971800"/>
            <a:ext cx="2651760" cy="365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🏠 Local/Global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10128" y="33832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badge_local_product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10128" y="36301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origin_country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10128" y="38770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countries_shipped_to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35040" y="2971800"/>
            <a:ext cx="2651760" cy="1417320"/>
          </a:xfrm>
          <a:prstGeom prst="rect">
            <a:avLst/>
          </a:prstGeom>
          <a:solidFill>
            <a:srgbClr val="1B2A3B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2971800"/>
            <a:ext cx="265176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🧮 Calculadas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44768" y="33832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discount_pct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44768" y="36301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price_category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44768" y="38770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sales_category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1.Objetivo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67335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7335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2.Investigação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889504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89504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3.Variáveis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105656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05656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4.Validação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321808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21808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5.Análise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53796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3796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6.Resultados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75411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411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7.Apresentação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ETAPA 4 — VALIDAÇÃO DOS DADOS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Identificar e documentar problemas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Valores em falta · Extremos · Incorretos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Coluna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1389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Nulos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3898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Tipo de problema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94960" y="13898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Decisão tomada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38404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urgency_text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77440" y="1737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1.100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49040" y="1737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Campo em falta (70%)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94960" y="1737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Análise apenas nos 473 com valor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121408"/>
            <a:ext cx="841248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21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merchant_profile_picture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77440" y="21214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1.347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49040" y="21214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URL em falta (85%)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94960" y="2121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Usar boolean merchant_has_profile_picture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505456"/>
            <a:ext cx="8412480" cy="38404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054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rating_*_count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77440" y="25054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45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49040" y="25054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Valores nulos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25054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Imputar 0 — produto sem avaliações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889504"/>
            <a:ext cx="841248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8895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product_color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77440" y="28895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41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49040" y="2889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Valores em falta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94960" y="28895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Excluir da análise de cor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273552"/>
            <a:ext cx="8412480" cy="38404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735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origin_country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377440" y="32735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49040" y="3273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Valor 'Unknown'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94960" y="32735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Manter categoria 'Desconhecido'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657600"/>
            <a:ext cx="8412480" cy="38404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57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retail_price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77440" y="3657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49040" y="3657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Possível inflação artificial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94960" y="3657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Calcular discount_pct e validar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4041648"/>
            <a:ext cx="8412480" cy="38404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shipping_is_express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377440" y="40416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749040" y="40416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Quase todos 0 (4 exceções)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94960" y="4041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Variável de baixo valor analítico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4425696"/>
            <a:ext cx="841248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Total: 1.573 linhas analisadas — 3 variáveis calculadas adicionadas: discount_pct, price_category, sales_category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1.Objetivo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67335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7335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2.Investigação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889504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89504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3.Variáveis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105656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05656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4.Validação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321808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21808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5.Análise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53796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3796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6.Resultados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75411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5411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7.Apresentação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ETAPA 5 — ANÁLISE  |  Subquestão 1: De onde vêm os produtos?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Origem concentrada = frete massivo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96,4% dos produtos fabricados na China e enviados para uma média de 40 países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37160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1417320"/>
            <a:ext cx="301752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23560" y="14904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96,4%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623560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Origem China (CN)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23560" y="21305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1.516 de 1.556 produtos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23560" y="2468880"/>
            <a:ext cx="301752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23560" y="25420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40,5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62356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Países destino médio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23560" y="31821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até 140 países por produto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23560" y="3520440"/>
            <a:ext cx="301752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23560" y="35935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~9.000 km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623560" y="4023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Distância média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23560" y="4233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China → Europa Ocidental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</a:rPr>
              <a:t>💡  Envio individual de cada produto da China para o consumidor europeu — sem consolidação de embalagens.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1.Objetivo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67335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7335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2.Investigação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2889504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889504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3.Variáveis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105656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05656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4.Validação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5321808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21808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5.Análise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653796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3796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6.Resultados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775411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5411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7.Apresentação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ETAPA 5 — ANÁLISE  |  Subquestão 2: Preço baixo = descarte rápido?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 cemitério de roupa barata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Preço médio 8,33€ — 69% dos produtos abaixo de 10€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3716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1417320"/>
            <a:ext cx="301752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23560" y="14904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8,33€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623560" y="1920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Preço médio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23560" y="21305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vs 23,29€ retail_price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23560" y="2468880"/>
            <a:ext cx="301752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23560" y="25420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64%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62356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Desconto médio aparente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23560" y="31821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price vs retail_price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23560" y="3520440"/>
            <a:ext cx="301752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23560" y="35935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4.679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623560" y="4023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Vendas médias abaixo 10€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23560" y="4233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vs 3.582 acima de 10€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C040"/>
                </a:solidFill>
              </a:rPr>
              <a:t>💡  Produtos mais baratos vendem mais — confirma o modelo fast fashion: preço baixo = maior consumo = maior lixo têxtil.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1.Objetivo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67335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7335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2.Investigação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2889504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889504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3.Variáveis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105656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05656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4.Validação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5321808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21808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5.Análise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653796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3796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6.Resultados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775411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5411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7.Apresentação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ETAPA 5 — ANÁLISE  |  Subquestão 3: Rating e impulso de compra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Comprar mal, comprar duas vezes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Produtos mal avaliados vendem — e boosters empurram produtos mediocres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371600"/>
          <a:ext cx="47548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349240" y="1417320"/>
            <a:ext cx="1600200" cy="1005840"/>
          </a:xfrm>
          <a:prstGeom prst="rect">
            <a:avLst/>
          </a:prstGeom>
          <a:solidFill>
            <a:srgbClr val="1B2A3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49240" y="1490472"/>
            <a:ext cx="160020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22,1%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349240" y="1970532"/>
            <a:ext cx="160020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produtos rating &lt; 3.5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086600" y="1417320"/>
            <a:ext cx="1600200" cy="1005840"/>
          </a:xfrm>
          <a:prstGeom prst="rect">
            <a:avLst/>
          </a:prstGeom>
          <a:solidFill>
            <a:srgbClr val="1B2A3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86600" y="1490472"/>
            <a:ext cx="160020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156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086600" y="1970532"/>
            <a:ext cx="160020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 boost E rating &lt; 3.5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49240" y="2606040"/>
            <a:ext cx="1600200" cy="1005840"/>
          </a:xfrm>
          <a:prstGeom prst="rect">
            <a:avLst/>
          </a:prstGeom>
          <a:solidFill>
            <a:srgbClr val="1B2A3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49240" y="2679192"/>
            <a:ext cx="160020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43,3%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349240" y="3159252"/>
            <a:ext cx="160020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usam ad boost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86600" y="2606040"/>
            <a:ext cx="1600200" cy="1005840"/>
          </a:xfrm>
          <a:prstGeom prst="rect">
            <a:avLst/>
          </a:prstGeom>
          <a:solidFill>
            <a:srgbClr val="1B2A3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86600" y="2679192"/>
            <a:ext cx="160020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C040"/>
                </a:solidFill>
              </a:rPr>
              <a:t>30,1%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086600" y="3159252"/>
            <a:ext cx="160020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têm urgency banner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5760" y="40416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</a:rPr>
              <a:t>💡  Produtos com rating entre 3.5–4 vendem em média 5.563 unidades — mais do que os de 4.5–5 (apenas 89). O middle tier domina as vendas.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5252"/>
                </a:solidFill>
              </a:rPr>
              <a:t>156 produtos com ad boost E rating abaixo de 3.5 — plataforma a impulsionar produtos de baixa qualidade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1.Objetivo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167335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7335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2.Investigação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2889504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89504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3.Variáveis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105656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05656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4.Validação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321808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21808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5.Análise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53796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3796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6.Resultados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775411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5411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7.Apresentação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ETAPA 6 — VALIDAÇÃO DOS RESULTADOS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Rever cálculos, queries e conclusões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Checklist de verificação antes da apresentação final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Contagem de origem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71800" y="14173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1.516 CN confirmado — cruzado com value_counts() e shape (1.573 total)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8412480" cy="402336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745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874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Média de preço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71800" y="18745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8,33€ — confirmado com describe() e validado contra mediana (8,00€)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8412480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317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Desconto calculado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71800" y="23317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discount_pct = (retail-price)/retail × 100 — valores entre 0% e 97%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8412480" cy="402336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889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7889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Vendas por rating grupo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71800" y="27889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Agrupamento com pd.cut() — 4 bins validados manualmente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8412480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461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2461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 boost + rating &lt; 3.5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71800" y="32461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Filtro duplo confirma 156 produtos — query verificada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8412480" cy="402336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033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</a:rPr>
              <a:t>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7033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Urgency banner (70% nulos)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71800" y="37033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Apenas 473 casos válidos — análise limitada, mencionado como limitação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160520"/>
            <a:ext cx="8412480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605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</a:rPr>
              <a:t>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CO₂ estimado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71800" y="41605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Cálculo externo (não no dataset) — apresentado como estimativa, não dado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1.Objetivo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67335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7335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2.Investigação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889504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9504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3.Variáveis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105656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05656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4.Validação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321808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21808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5.Análise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53796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6.Resultados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5411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5411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7.Apresentação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ETAPA 7 — APRESENTAÇÃO  |  Conclusões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 que os dados revelam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5 conclusões baseadas em evidência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420624" cy="512064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898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96,4% dos produtos originados na China — enviados individualmente para 40 países em média. Modelo de frete com elevado impacto de carbono.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0624" cy="512064"/>
          </a:xfrm>
          <a:prstGeom prst="rect">
            <a:avLst/>
          </a:prstGeom>
          <a:solidFill>
            <a:srgbClr val="F0C040">
              <a:alpha val="85000"/>
            </a:srgbClr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4825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Preço médio de 8,33€ com desconto aparente de 64%. Produtos abaixo de 10€ vendem mais — confirma o modelo fast fashion descartável.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420624" cy="512064"/>
          </a:xfrm>
          <a:prstGeom prst="rect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70048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70662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22% dos produtos com rating &lt; 3.5 continuam a vender em grande volume — o consumidor compra, descarta e volta a comprar.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420624" cy="512064"/>
          </a:xfrm>
          <a:prstGeom prst="rect">
            <a:avLst/>
          </a:prstGeom>
          <a:solidFill>
            <a:srgbClr val="E05252">
              <a:alpha val="85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28416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649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156 produtos com ad boost E rating &lt; 3.5 — a plataforma está ativamente a impulsionar produtos de baixa qualidade.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86784"/>
            <a:ext cx="420624" cy="512064"/>
          </a:xfrm>
          <a:prstGeom prst="rect">
            <a:avLst/>
          </a:prstGeom>
          <a:solidFill>
            <a:srgbClr val="2ECC71">
              <a:alpha val="85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86784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02336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29 produtos com badge 'local' têm todos origem CN — o badge não tem critérios verificáveis. Nenhum badge ambiental existe na plataforma.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1.Objetivo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67335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7335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2.Investigação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889504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9504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3.Variáveis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105656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05656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4.Validação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321808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5.Análise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53796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6.Resultados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75411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5411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7.Apresentação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ETAPA 7 — APRESENTAÇÃO  |  Recomendações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 que a Wish poderia fazer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Propostas baseadas diretamente nos dados analisados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023360" cy="1481328"/>
          </a:xfrm>
          <a:prstGeom prst="rect">
            <a:avLst/>
          </a:prstGeom>
          <a:solidFill>
            <a:srgbClr val="1B2A3B"/>
          </a:solidFill>
          <a:ln w="1524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4023360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27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🌱  Criar Eco Badge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8928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Badge de sustentabilidade para produtos com baixa pegada — materiais reciclados ou produção verificada como local. Resolve o problema do badge CN 'local'.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389888"/>
            <a:ext cx="4023360" cy="1481328"/>
          </a:xfrm>
          <a:prstGeom prst="rect">
            <a:avLst/>
          </a:prstGeom>
          <a:solidFill>
            <a:srgbClr val="1B2A3B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89888"/>
            <a:ext cx="402336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527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Consolidar Envios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8928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Agrupar encomendas do mesmo destino. O dataset mostra 1.516 produtos CN para 40 países — cada compra é um pacote individual.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23360" cy="1481328"/>
          </a:xfrm>
          <a:prstGeom prst="rect">
            <a:avLst/>
          </a:prstGeom>
          <a:solidFill>
            <a:srgbClr val="1B2A3B"/>
          </a:solidFill>
          <a:ln w="1524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402336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⭐  Limitar Boost a Rating ≥ 3.5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156 produtos com boost E rating &lt; 3.5 identificados. Mínimo de qualidade para anúncios pagos reduziria promoção de produtos descartáveis.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481328"/>
          </a:xfrm>
          <a:prstGeom prst="rect">
            <a:avLst/>
          </a:prstGeom>
          <a:solidFill>
            <a:srgbClr val="1B2A3B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17520"/>
            <a:ext cx="40233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 Transparência de Preços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Discount_pct chega a 97% — descontos artificiais sobre retail_price criado pelo próprio vendedor. Exigir fonte verificável.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Cliente potencial: Wish Platform  ·  Reguladores europeus (DGCCRF)  ·  ONGs ambientais (Greenpeace, WWF)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1.Objetivo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67335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7335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2.Investigação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889504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3.Variáveis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105656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05656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4.Validação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321808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1808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5.Análise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537960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6.Resultados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754112" y="4773168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4112" y="477316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7.Apresentação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2286000" cy="2286000"/>
          </a:xfrm>
          <a:prstGeom prst="ellipse">
            <a:avLst/>
          </a:prstGeom>
          <a:solidFill>
            <a:srgbClr val="028090">
              <a:alpha val="1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4A3B8"/>
                </a:solidFill>
              </a:rPr>
              <a:t>Em agosto de 2020,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enquanto o mundo parava...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57200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C040"/>
                </a:solidFill>
              </a:rPr>
              <a:t>...6,8 milhões de peças de roupa traversavam o planeta.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Fast fashion + pandemia + ausência de regulação ambiental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= uma crise silenciosa com dados reais para a provar.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457200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Obrigado/a  —  Questões?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Dataset: Sales of Summer Clothes in E-commerce Wish | Kaggle | jmmvutu | Agosto 2020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Fashion &amp; Pegada Ambiental — Análise de Dados</dc:title>
  <dc:subject>PptxGenJS Presentation</dc:subject>
  <dc:creator>PptxGenJS</dc:creator>
  <cp:lastModifiedBy>PptxGenJS</cp:lastModifiedBy>
  <cp:revision>1</cp:revision>
  <dcterms:created xsi:type="dcterms:W3CDTF">2026-05-17T18:17:06Z</dcterms:created>
  <dcterms:modified xsi:type="dcterms:W3CDTF">2026-05-17T18:17:06Z</dcterms:modified>
</cp:coreProperties>
</file>